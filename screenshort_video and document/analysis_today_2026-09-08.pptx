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0360152" cy="365760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BBF24"/>
                </a:solidFill>
              </a:rPr>
              <a:t>SHARMA SUPERMARKET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</a:rPr>
              <a:t>STORE PERFORMANCE &amp; BUSINESS INTELLIGENCE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8FAFC"/>
                </a:solidFill>
              </a:rPr>
              <a:t>Analysis Window: 2026-09-08 to 2026-09-08  •  Period: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Generated by Supermarket AI Assistant  •  08 September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46320"/>
            <a:ext cx="228600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49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B923C"/>
                </a:solidFill>
              </a:rPr>
              <a:t>₹1,822.00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4846320"/>
            <a:ext cx="228600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4983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Bills Finalized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5349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</a:rPr>
              <a:t>7 Bills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846320"/>
            <a:ext cx="228600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983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GST Collected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349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BBF24"/>
                </a:solidFill>
              </a:rPr>
              <a:t>₹124.50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4846320"/>
            <a:ext cx="228600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4983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Low Stock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5349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</a:rPr>
              <a:t>0 SKUs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BBF24"/>
                </a:solidFill>
              </a:rPr>
              <a:t>Sales &amp; Financial Key Metrics</a:t>
            </a:r>
          </a:p>
          <a:p>
            <a:r>
              <a:rPr sz="1200">
                <a:solidFill>
                  <a:srgbClr val="94A3B8"/>
                </a:solidFill>
              </a:rPr>
              <a:t>High-level financial and operational indicators for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33832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</a:rPr>
              <a:t>Gross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B923C"/>
                </a:solidFill>
              </a:rPr>
              <a:t>₹1,822.00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Total settled bill sales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188720"/>
            <a:ext cx="33832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</a:rPr>
              <a:t>Invoices Finalized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B981"/>
                </a:solidFill>
              </a:rPr>
              <a:t>7 Bills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Customer transactions 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188720"/>
            <a:ext cx="33832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</a:rPr>
              <a:t>Average Daily Run-rate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</a:rPr>
              <a:t>₹1,822.00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Daily sales velocity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33832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</a:rPr>
              <a:t>Average Bill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</a:rPr>
              <a:t>₹260.29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Average basket size per customer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657600"/>
            <a:ext cx="33832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</a:rPr>
              <a:t>GST Tax Collected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51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0B981"/>
                </a:solidFill>
              </a:rPr>
              <a:t>₹124.50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Total CGST + SGST collected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657600"/>
            <a:ext cx="33832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</a:rPr>
              <a:t>Khata Outstanding Dues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251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F4444"/>
                </a:solidFill>
              </a:rPr>
              <a:t>₹3,000.00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2 active customer balance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126480"/>
            <a:ext cx="10725912" cy="457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17220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</a:rPr>
              <a:t>💡 Sales insight: Generating an average of ₹1,822.00/day with an average ticket size of ₹260.29.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BBF24"/>
                </a:solidFill>
              </a:rPr>
              <a:t>Sales Velocity &amp; Daily Revenue Trend</a:t>
            </a:r>
          </a:p>
          <a:p>
            <a:r>
              <a:rPr sz="1200">
                <a:solidFill>
                  <a:srgbClr val="94A3B8"/>
                </a:solidFill>
              </a:rPr>
              <a:t>Daily progression of finalized sales from 2026-09-08 to 2026-09-08</a:t>
            </a:r>
          </a:p>
        </p:txBody>
      </p:sp>
      <p:pic>
        <p:nvPicPr>
          <p:cNvPr id="3" name="Picture 2" descr="chart_daily_trend_6700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315200" cy="4754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321040" y="1188720"/>
            <a:ext cx="3108960" cy="47548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Trend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Peak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0299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923C"/>
                </a:solidFill>
              </a:rPr>
              <a:t>₹1,822.00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395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</a:rPr>
              <a:t>2026-09-08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880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Active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0815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₹1,822.00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4472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</a:rPr>
              <a:t>1 Days tracked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Daily Run-rate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13308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₹1,822.00/day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4988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</a:rPr>
              <a:t>Period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98347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Average Ticket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18464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</a:rPr>
              <a:t>₹260.29/bill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550407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</a:rPr>
              <a:t>7 total transactions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BBF24"/>
                </a:solidFill>
              </a:rPr>
              <a:t>Top Performing Products (Revenue &amp; Volume)</a:t>
            </a:r>
          </a:p>
          <a:p>
            <a:r>
              <a:rPr sz="1200">
                <a:solidFill>
                  <a:srgbClr val="94A3B8"/>
                </a:solidFill>
              </a:rPr>
              <a:t>Best selling items ranked by total sales revenue</a:t>
            </a:r>
          </a:p>
        </p:txBody>
      </p:sp>
      <p:pic>
        <p:nvPicPr>
          <p:cNvPr id="3" name="Picture 2" descr="chart_top_products_480d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943600" cy="4754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49440" y="1188720"/>
            <a:ext cx="4480560" cy="47548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Product Sales Breakdown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Product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</a:rPr>
              <a:t>Qty Sold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1828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</a:rP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</a:rPr>
              <a:t>1. Local Sugar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0B981"/>
                </a:solidFill>
              </a:rPr>
              <a:t>21 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2148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B923C"/>
                </a:solidFill>
              </a:rPr>
              <a:t>₹992.28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651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</a:rPr>
              <a:t>2. Aashirvaad Atta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651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0B981"/>
                </a:solidFill>
              </a:rPr>
              <a:t>9 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6517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B923C"/>
                </a:solidFill>
              </a:rPr>
              <a:t>₹472.50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154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</a:rPr>
              <a:t>3. Nestle Maggi Noodles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154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0B981"/>
                </a:solidFill>
              </a:rPr>
              <a:t>19 pkt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3154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B923C"/>
                </a:solidFill>
              </a:rPr>
              <a:t>₹358.72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BBF24"/>
                </a:solidFill>
              </a:rPr>
              <a:t>Stock Health &amp; Inventory Status</a:t>
            </a:r>
          </a:p>
          <a:p>
            <a:r>
              <a:rPr sz="1200">
                <a:solidFill>
                  <a:srgbClr val="94A3B8"/>
                </a:solidFill>
              </a:rPr>
              <a:t>Catalog SKU health, out-of-stock risk assessment, and reorder alerts</a:t>
            </a:r>
          </a:p>
        </p:txBody>
      </p:sp>
      <p:pic>
        <p:nvPicPr>
          <p:cNvPr id="3" name="Picture 2" descr="chart_stock_health_7a5d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937760" cy="4754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1188720"/>
            <a:ext cx="5486400" cy="47548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Critical Stock Reorder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7432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✅ Excellent! All products are well above reorder levels.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291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8FAFC"/>
                </a:solidFill>
              </a:rPr>
              <a:t>All 16 active SKUs are sufficiently stocked.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BBF24"/>
                </a:solidFill>
              </a:rPr>
              <a:t>GST Collection &amp; Tax Compliance</a:t>
            </a:r>
          </a:p>
          <a:p>
            <a:r>
              <a:rPr sz="1200">
                <a:solidFill>
                  <a:srgbClr val="94A3B8"/>
                </a:solidFill>
              </a:rPr>
              <a:t>Statutory GST breakdown across tax slabs (CGST + SGST)</a:t>
            </a:r>
          </a:p>
        </p:txBody>
      </p:sp>
      <p:pic>
        <p:nvPicPr>
          <p:cNvPr id="3" name="Picture 2" descr="chart_gst_slab_2623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937760" cy="4754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1188720"/>
            <a:ext cx="5486400" cy="47548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GST Slabs &amp; Collections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828800"/>
            <a:ext cx="2468880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Taxable Turnover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</a:rPr>
              <a:t>₹1,699.00</a:t>
            </a:r>
          </a:p>
        </p:txBody>
      </p:sp>
      <p:sp>
        <p:nvSpPr>
          <p:cNvPr id="9" name="Rectangle 8"/>
          <p:cNvSpPr/>
          <p:nvPr/>
        </p:nvSpPr>
        <p:spPr>
          <a:xfrm>
            <a:off x="8732520" y="1828800"/>
            <a:ext cx="2468880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Central GST (CGST)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₹62.25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880360"/>
            <a:ext cx="2468880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State GST (SGST)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₹62.25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2880360"/>
            <a:ext cx="2468880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Total Tax Collected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</a:rPr>
              <a:t>₹124.50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023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Slab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</a:rPr>
              <a:t>Taxable (₹)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023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</a:rPr>
              <a:t>CGST (₹)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4023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</a:rPr>
              <a:t>SGST (₹)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</a:rPr>
              <a:t>5.0% GST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389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8FAFC"/>
                </a:solidFill>
              </a:rPr>
              <a:t>₹1,395.00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389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0B981"/>
                </a:solidFill>
              </a:rPr>
              <a:t>₹34.89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4389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0B981"/>
                </a:solidFill>
              </a:rPr>
              <a:t>₹34.89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</a:rPr>
              <a:t>18.0% GST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8FAFC"/>
                </a:solidFill>
              </a:rPr>
              <a:t>₹304.00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800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0B981"/>
                </a:solidFill>
              </a:rPr>
              <a:t>₹27.36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4800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0B981"/>
                </a:solidFill>
              </a:rPr>
              <a:t>₹27.36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BBF24"/>
                </a:solidFill>
              </a:rPr>
              <a:t>Customer Credit Ledger &amp; Payment Mix</a:t>
            </a:r>
          </a:p>
          <a:p>
            <a:r>
              <a:rPr sz="1200">
                <a:solidFill>
                  <a:srgbClr val="94A3B8"/>
                </a:solidFill>
              </a:rPr>
              <a:t>Customer credit receivables and transaction payment channels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4754880"/>
          </a:xfrm>
          <a:prstGeom prst="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Credit Ledger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4663440" cy="109728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Total Outstanding Receivables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F4444"/>
                </a:solidFill>
              </a:rPr>
              <a:t>₹3,000.00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</a:rPr>
              <a:t>Active Accounts with Dues: 2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Payment Channels Mix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931920"/>
            <a:ext cx="4663440" cy="50292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</a:rPr>
              <a:t>• UPI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02335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5 bills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02335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₹1,140.00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526280"/>
            <a:ext cx="4663440" cy="50292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</a:rPr>
              <a:t>• CASH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617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2 bills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617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₹682.00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188720"/>
            <a:ext cx="5394960" cy="475488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</a:rPr>
              <a:t>Top Customer Balances (Receivables)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Customer 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828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Phone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828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</a:rPr>
              <a:t>Balance Due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</a:rPr>
              <a:t>1. Ramesh Patel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148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9876543214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21488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F4444"/>
                </a:solidFill>
              </a:rPr>
              <a:t>₹2,300.00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</a:rPr>
              <a:t>2. Siva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651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6517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F4444"/>
                </a:solidFill>
              </a:rPr>
              <a:t>₹700.00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